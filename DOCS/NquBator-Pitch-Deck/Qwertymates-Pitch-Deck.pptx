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1234440" cy="1234440"/>
          </a:xfrm>
          <a:prstGeom prst="rect">
            <a:avLst/>
          </a:prstGeom>
        </p:spPr>
      </p:pic>
      <p:pic>
        <p:nvPicPr>
          <p:cNvPr id="5" name="Image 1" descr="C:\Users\Dell\.cursor\projects\morongwa\frontend\public\qwertymate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914400"/>
            <a:ext cx="4937760" cy="7132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2148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Qwerty Revolution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640080" y="292608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 Madisha, Founder &amp; CEO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40080" y="33101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business@qwertymates.com    ·    +27 66 129 4468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0080" y="6053328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WhatsApp:  Botswana  +267 75 184 537    |    South Africa  +27 81 582 6899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241280" y="6126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/  13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621792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0704" y="25603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11480" y="1417320"/>
            <a:ext cx="3703320" cy="4709160"/>
          </a:xfrm>
          <a:prstGeom prst="roundRect">
            <a:avLst>
              <a:gd name="adj" fmla="val 2469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417320"/>
            <a:ext cx="82296" cy="470916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" y="1545336"/>
            <a:ext cx="3355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manual operations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12648" y="1984248"/>
            <a:ext cx="3355848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rely on cash, manual stock, and word-of-mouth.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297680" y="1417320"/>
            <a:ext cx="3703320" cy="4709160"/>
          </a:xfrm>
          <a:prstGeom prst="roundRect">
            <a:avLst>
              <a:gd name="adj" fmla="val 2469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1417320"/>
            <a:ext cx="82296" cy="470916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12" name="Text 9"/>
          <p:cNvSpPr/>
          <p:nvPr/>
        </p:nvSpPr>
        <p:spPr>
          <a:xfrm>
            <a:off x="4498848" y="1545336"/>
            <a:ext cx="3355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exclusion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498848" y="1984248"/>
            <a:ext cx="3355848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communities excluded from digital commerce.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183880" y="1417320"/>
            <a:ext cx="3703320" cy="4709160"/>
          </a:xfrm>
          <a:prstGeom prst="roundRect">
            <a:avLst>
              <a:gd name="adj" fmla="val 2469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83880" y="1417320"/>
            <a:ext cx="82296" cy="470916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16" name="Text 13"/>
          <p:cNvSpPr/>
          <p:nvPr/>
        </p:nvSpPr>
        <p:spPr>
          <a:xfrm>
            <a:off x="8385048" y="1545336"/>
            <a:ext cx="3355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Costly, limited payments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385048" y="1984248"/>
            <a:ext cx="3355848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face high costs and limited payment options.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19" name="Image 1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542532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5216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 ·  Confidential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0241280" y="65471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621792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0704" y="25603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11480" y="1417320"/>
            <a:ext cx="3703320" cy="4709160"/>
          </a:xfrm>
          <a:prstGeom prst="roundRect">
            <a:avLst>
              <a:gd name="adj" fmla="val 2469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417320"/>
            <a:ext cx="82296" cy="470916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" y="1545336"/>
            <a:ext cx="3355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super-app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12648" y="1984248"/>
            <a:ext cx="3355848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AI-driven super-app for inclusive trade, logistics, payments, and content.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297680" y="1417320"/>
            <a:ext cx="3703320" cy="4709160"/>
          </a:xfrm>
          <a:prstGeom prst="roundRect">
            <a:avLst>
              <a:gd name="adj" fmla="val 2469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1417320"/>
            <a:ext cx="82296" cy="470916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12" name="Text 9"/>
          <p:cNvSpPr/>
          <p:nvPr/>
        </p:nvSpPr>
        <p:spPr>
          <a:xfrm>
            <a:off x="4498848" y="1545336"/>
            <a:ext cx="3355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first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498848" y="1984248"/>
            <a:ext cx="3355848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merchants, suppliers, and communities.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183880" y="1417320"/>
            <a:ext cx="3703320" cy="4709160"/>
          </a:xfrm>
          <a:prstGeom prst="roundRect">
            <a:avLst>
              <a:gd name="adj" fmla="val 2469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83880" y="1417320"/>
            <a:ext cx="82296" cy="470916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16" name="Text 13"/>
          <p:cNvSpPr/>
          <p:nvPr/>
        </p:nvSpPr>
        <p:spPr>
          <a:xfrm>
            <a:off x="8385048" y="1545336"/>
            <a:ext cx="3355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impact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385048" y="1984248"/>
            <a:ext cx="3355848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financial inclusion and job creation across Southern Africa.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19" name="Image 1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542532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5216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 ·  Confidential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0241280" y="65471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621792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0704" y="25603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47472" y="1188720"/>
            <a:ext cx="2764460" cy="2542032"/>
          </a:xfrm>
          <a:prstGeom prst="roundRect">
            <a:avLst>
              <a:gd name="adj" fmla="val 3597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" y="1188720"/>
            <a:ext cx="82296" cy="2542032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316736"/>
            <a:ext cx="24169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QwertyHub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1810512"/>
            <a:ext cx="2416988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store creation via simplified dropshipping.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58236" y="1188720"/>
            <a:ext cx="2764460" cy="2542032"/>
          </a:xfrm>
          <a:prstGeom prst="roundRect">
            <a:avLst>
              <a:gd name="adj" fmla="val 3597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58236" y="1188720"/>
            <a:ext cx="82296" cy="2542032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12" name="Text 9"/>
          <p:cNvSpPr/>
          <p:nvPr/>
        </p:nvSpPr>
        <p:spPr>
          <a:xfrm>
            <a:off x="3459404" y="1316736"/>
            <a:ext cx="24169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AskMacGyver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459404" y="1810512"/>
            <a:ext cx="2416988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problem-solving and predictive insights.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69000" y="1188720"/>
            <a:ext cx="2764460" cy="2542032"/>
          </a:xfrm>
          <a:prstGeom prst="roundRect">
            <a:avLst>
              <a:gd name="adj" fmla="val 3597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69000" y="1188720"/>
            <a:ext cx="82296" cy="2542032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16" name="Text 13"/>
          <p:cNvSpPr/>
          <p:nvPr/>
        </p:nvSpPr>
        <p:spPr>
          <a:xfrm>
            <a:off x="6370168" y="1316736"/>
            <a:ext cx="24169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ACBPay Wallet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70168" y="1810512"/>
            <a:ext cx="2416988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transfers, merchant payments, cash-in/cash-out.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079763" y="1188720"/>
            <a:ext cx="2764460" cy="2542032"/>
          </a:xfrm>
          <a:prstGeom prst="roundRect">
            <a:avLst>
              <a:gd name="adj" fmla="val 3597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79763" y="1188720"/>
            <a:ext cx="82296" cy="2542032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20" name="Text 17"/>
          <p:cNvSpPr/>
          <p:nvPr/>
        </p:nvSpPr>
        <p:spPr>
          <a:xfrm>
            <a:off x="9280931" y="1316736"/>
            <a:ext cx="24169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QwertyTV &amp; QwertyMusic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280931" y="1810512"/>
            <a:ext cx="2416988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monetization and cultural relevance.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802854" y="3877056"/>
            <a:ext cx="2764460" cy="2542032"/>
          </a:xfrm>
          <a:prstGeom prst="roundRect">
            <a:avLst>
              <a:gd name="adj" fmla="val 3597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02854" y="3877056"/>
            <a:ext cx="82296" cy="2542032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24" name="Text 21"/>
          <p:cNvSpPr/>
          <p:nvPr/>
        </p:nvSpPr>
        <p:spPr>
          <a:xfrm>
            <a:off x="2004022" y="4005072"/>
            <a:ext cx="24169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2004022" y="4498848"/>
            <a:ext cx="2416988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for rural inclusivity.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713618" y="3877056"/>
            <a:ext cx="2764460" cy="2542032"/>
          </a:xfrm>
          <a:prstGeom prst="roundRect">
            <a:avLst>
              <a:gd name="adj" fmla="val 3597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13618" y="3877056"/>
            <a:ext cx="82296" cy="2542032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28" name="Text 25"/>
          <p:cNvSpPr/>
          <p:nvPr/>
        </p:nvSpPr>
        <p:spPr>
          <a:xfrm>
            <a:off x="4914786" y="4005072"/>
            <a:ext cx="24169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Morongwa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4914786" y="4498848"/>
            <a:ext cx="2416988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messenger — chat, voice, and video for orders, errands, and community.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624382" y="3877056"/>
            <a:ext cx="2764460" cy="2542032"/>
          </a:xfrm>
          <a:prstGeom prst="roundRect">
            <a:avLst>
              <a:gd name="adj" fmla="val 3597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624382" y="3877056"/>
            <a:ext cx="82296" cy="2542032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32" name="Text 29"/>
          <p:cNvSpPr/>
          <p:nvPr/>
        </p:nvSpPr>
        <p:spPr>
          <a:xfrm>
            <a:off x="7825550" y="4005072"/>
            <a:ext cx="24169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Errands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7825550" y="4498848"/>
            <a:ext cx="2416988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deliveries, collections, and micro-jobs matched to trusted runners.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35" name="Image 1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542532"/>
            <a:ext cx="256032" cy="25603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85216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 ·  Confidential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10241280" y="65471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621792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0704" y="128016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Qwertz — Video Editing Suite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60704" y="585216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vertical video for creators &amp; merchants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417320"/>
            <a:ext cx="3703320" cy="4709160"/>
          </a:xfrm>
          <a:prstGeom prst="roundRect">
            <a:avLst>
              <a:gd name="adj" fmla="val 2469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1417320"/>
            <a:ext cx="82296" cy="470916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9" name="Text 6"/>
          <p:cNvSpPr/>
          <p:nvPr/>
        </p:nvSpPr>
        <p:spPr>
          <a:xfrm>
            <a:off x="612648" y="1545336"/>
            <a:ext cx="3355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9:16 short clips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12648" y="1984248"/>
            <a:ext cx="3355848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90 seconds — trim, crop, text, filters, and music for QwertyTV &amp; Wall.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297680" y="1417320"/>
            <a:ext cx="3703320" cy="4709160"/>
          </a:xfrm>
          <a:prstGeom prst="roundRect">
            <a:avLst>
              <a:gd name="adj" fmla="val 2469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417320"/>
            <a:ext cx="82296" cy="470916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13" name="Text 10"/>
          <p:cNvSpPr/>
          <p:nvPr/>
        </p:nvSpPr>
        <p:spPr>
          <a:xfrm>
            <a:off x="4498848" y="1545336"/>
            <a:ext cx="3355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+ job queue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498848" y="1984248"/>
            <a:ext cx="3355848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API: upload, edit, export to feed &amp; WhatsApp share links.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183880" y="1417320"/>
            <a:ext cx="3703320" cy="4709160"/>
          </a:xfrm>
          <a:prstGeom prst="roundRect">
            <a:avLst>
              <a:gd name="adj" fmla="val 2469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83880" y="1417320"/>
            <a:ext cx="82296" cy="470916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17" name="Text 14"/>
          <p:cNvSpPr/>
          <p:nvPr/>
        </p:nvSpPr>
        <p:spPr>
          <a:xfrm>
            <a:off x="8385048" y="1545336"/>
            <a:ext cx="3355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hooks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385048" y="1984248"/>
            <a:ext cx="3355848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AskMacGyver captions/hashtags; scene detect &amp; subtitles on Phase 2 roadmap.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20" name="Image 1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542532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85216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 ·  Confidential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0241280" y="65471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621792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0704" y="25603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Customer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SMEs, retailers, suppliers, logistics companies, and consumers.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11480" y="1874520"/>
            <a:ext cx="3703320" cy="4251960"/>
          </a:xfrm>
          <a:prstGeom prst="roundRect">
            <a:avLst>
              <a:gd name="adj" fmla="val 2469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33172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6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67512" y="347472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interviewed/tested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297680" y="1874520"/>
            <a:ext cx="3703320" cy="4251960"/>
          </a:xfrm>
          <a:prstGeom prst="roundRect">
            <a:avLst>
              <a:gd name="adj" fmla="val 2469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0" y="233172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6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4553712" y="347472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piloting QwertyHub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183880" y="1874520"/>
            <a:ext cx="3703320" cy="4251960"/>
          </a:xfrm>
          <a:prstGeom prst="roundRect">
            <a:avLst>
              <a:gd name="adj" fmla="val 2469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66760" y="233172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6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8439912" y="347472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demand for simplified commerce + WhatsApp access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17" name="Image 1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542532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85216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 ·  Confidential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0241280" y="65471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13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621792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0704" y="25603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11480" y="132588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55448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6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263640" y="132588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155448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6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6492240" y="26517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onboarded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11480" y="384048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" y="3840480"/>
            <a:ext cx="82296" cy="228600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" y="3968496"/>
            <a:ext cx="5230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revenue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12648" y="4407408"/>
            <a:ext cx="5230368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Errands, supplier onboarding, wallet transactions.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263640" y="384048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63640" y="3840480"/>
            <a:ext cx="82296" cy="228600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18" name="Text 15"/>
          <p:cNvSpPr/>
          <p:nvPr/>
        </p:nvSpPr>
        <p:spPr>
          <a:xfrm>
            <a:off x="6464808" y="3968496"/>
            <a:ext cx="5184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464808" y="4407408"/>
            <a:ext cx="5184648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pilots with suppliers and retailers.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21" name="Image 1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542532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85216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 ·  Confidential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0241280" y="65471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621792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0704" y="25603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3794760" cy="4846320"/>
          </a:xfrm>
          <a:prstGeom prst="roundRect">
            <a:avLst>
              <a:gd name="adj" fmla="val 2410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280160"/>
            <a:ext cx="82296" cy="484632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408176"/>
            <a:ext cx="3447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66928" y="1847088"/>
            <a:ext cx="3447288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commissions, errands fees, wallet transactions, content monetization, AI premium services.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297680" y="1280160"/>
            <a:ext cx="3794760" cy="4846320"/>
          </a:xfrm>
          <a:prstGeom prst="roundRect">
            <a:avLst>
              <a:gd name="adj" fmla="val 2410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1280160"/>
            <a:ext cx="82296" cy="484632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12" name="Text 9"/>
          <p:cNvSpPr/>
          <p:nvPr/>
        </p:nvSpPr>
        <p:spPr>
          <a:xfrm>
            <a:off x="4498848" y="1408176"/>
            <a:ext cx="3447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498848" y="1847088"/>
            <a:ext cx="3447288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adoption, WhatsApp accessibility, supplier partnerships, regulatory compliance.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229600" y="1280160"/>
            <a:ext cx="3611880" cy="4846320"/>
          </a:xfrm>
          <a:prstGeom prst="roundRect">
            <a:avLst>
              <a:gd name="adj" fmla="val 2532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1280160"/>
            <a:ext cx="82296" cy="484632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16" name="Text 13"/>
          <p:cNvSpPr/>
          <p:nvPr/>
        </p:nvSpPr>
        <p:spPr>
          <a:xfrm>
            <a:off x="8430768" y="1408176"/>
            <a:ext cx="3264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revenue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430768" y="1847088"/>
            <a:ext cx="3264408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250k – 1M in first 12 months.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19" name="Image 1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542532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5216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 ·  Confidential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0241280" y="65471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621792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0704" y="25603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4592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82880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Takealot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297680" y="164592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0" y="182880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Jumia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138160" y="164592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/>
        </p:spPr>
      </p:sp>
      <p:sp>
        <p:nvSpPr>
          <p:cNvPr id="12" name="Text 9"/>
          <p:cNvSpPr/>
          <p:nvPr/>
        </p:nvSpPr>
        <p:spPr>
          <a:xfrm>
            <a:off x="8138160" y="182880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57200" y="2880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11480" y="3291840"/>
            <a:ext cx="2212848" cy="2834640"/>
          </a:xfrm>
          <a:prstGeom prst="roundRect">
            <a:avLst>
              <a:gd name="adj" fmla="val 4132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" y="3977640"/>
            <a:ext cx="19933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dropshipping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2743200" y="3291840"/>
            <a:ext cx="2212848" cy="2834640"/>
          </a:xfrm>
          <a:prstGeom prst="roundRect">
            <a:avLst>
              <a:gd name="adj" fmla="val 4132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52928" y="3977640"/>
            <a:ext cx="19933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accessibility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074920" y="3291840"/>
            <a:ext cx="2212848" cy="2834640"/>
          </a:xfrm>
          <a:prstGeom prst="roundRect">
            <a:avLst>
              <a:gd name="adj" fmla="val 4132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84648" y="3977640"/>
            <a:ext cx="19933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406640" y="3291840"/>
            <a:ext cx="2212848" cy="2834640"/>
          </a:xfrm>
          <a:prstGeom prst="roundRect">
            <a:avLst>
              <a:gd name="adj" fmla="val 4132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16368" y="3977640"/>
            <a:ext cx="19933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payments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738360" y="3291840"/>
            <a:ext cx="2212848" cy="2834640"/>
          </a:xfrm>
          <a:prstGeom prst="roundRect">
            <a:avLst>
              <a:gd name="adj" fmla="val 4132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48088" y="3977640"/>
            <a:ext cx="19933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ecosystem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25" name="Image 1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542532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85216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 ·  Confidential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10241280" y="65471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13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621792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0704" y="25603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1207008"/>
            <a:ext cx="5669280" cy="4160520"/>
          </a:xfrm>
          <a:prstGeom prst="roundRect">
            <a:avLst>
              <a:gd name="adj" fmla="val 2198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207008"/>
            <a:ext cx="82296" cy="416052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335024"/>
            <a:ext cx="5321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 Madisha — Founder &amp; CEO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6928" y="1773936"/>
            <a:ext cx="5321808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in finance, audit, and municipal asset management. Transitioned into tech with MERN stack, PHP, Node.js, React, and GitHub contributions. Experience in digital commerce, supplier integrations, and grassroots projects.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72200" y="1207008"/>
            <a:ext cx="5669280" cy="4160520"/>
          </a:xfrm>
          <a:prstGeom prst="roundRect">
            <a:avLst>
              <a:gd name="adj" fmla="val 2198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72200" y="1207008"/>
            <a:ext cx="82296" cy="416052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12" name="Text 9"/>
          <p:cNvSpPr/>
          <p:nvPr/>
        </p:nvSpPr>
        <p:spPr>
          <a:xfrm>
            <a:off x="6373368" y="1335024"/>
            <a:ext cx="5321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Francinah Madisha — Operations &amp; UX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73368" y="1773936"/>
            <a:ext cx="5321808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diploma + UI certificate (UX Design Institute). Web development (IT Academy SA). Graphic design (University of Cape Town). Strong background in logistics, retail, and supplier management.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65760" y="5504688"/>
            <a:ext cx="11475720" cy="82296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5650992"/>
            <a:ext cx="11109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commitment to scaling Qwertymates.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17" name="Image 1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542532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85216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 ·  Confidential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0241280" y="65471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621792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0704" y="25603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Ask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11480" y="1280160"/>
            <a:ext cx="11384280" cy="1965960"/>
          </a:xfrm>
          <a:prstGeom prst="roundRect">
            <a:avLst>
              <a:gd name="adj" fmla="val 4651"/>
            </a:avLst>
          </a:prstGeom>
          <a:solidFill>
            <a:srgbClr val="0B1F3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R500,000 – R1,500,000   (~USD 30k – 90k)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411480" y="3429000"/>
            <a:ext cx="5394960" cy="2697480"/>
          </a:xfrm>
          <a:prstGeom prst="roundRect">
            <a:avLst>
              <a:gd name="adj" fmla="val 3390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3429000"/>
            <a:ext cx="82296" cy="269748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557016"/>
            <a:ext cx="5047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ticket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12648" y="3995928"/>
            <a:ext cx="5047488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R250,000  (~USD 15k)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989320" y="3429000"/>
            <a:ext cx="5806440" cy="2697480"/>
          </a:xfrm>
          <a:prstGeom prst="roundRect">
            <a:avLst>
              <a:gd name="adj" fmla="val 3390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89320" y="3429000"/>
            <a:ext cx="82296" cy="269748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15" name="Text 12"/>
          <p:cNvSpPr/>
          <p:nvPr/>
        </p:nvSpPr>
        <p:spPr>
          <a:xfrm>
            <a:off x="6190488" y="3557016"/>
            <a:ext cx="5458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190488" y="3995928"/>
            <a:ext cx="5458968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expansion, AI enhancement, regional scaling.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18" name="Image 1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54253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85216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 ·  Confidential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0241280" y="65471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4" name="Image 0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621792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0704" y="25603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NquBator Fit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3794760" cy="4846320"/>
          </a:xfrm>
          <a:prstGeom prst="roundRect">
            <a:avLst>
              <a:gd name="adj" fmla="val 2410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280160"/>
            <a:ext cx="82296" cy="484632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408176"/>
            <a:ext cx="3447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66928" y="1847088"/>
            <a:ext cx="3447288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mentorship, partnerships, pilots, and fundraising readiness.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297680" y="1280160"/>
            <a:ext cx="3794760" cy="4846320"/>
          </a:xfrm>
          <a:prstGeom prst="roundRect">
            <a:avLst>
              <a:gd name="adj" fmla="val 2410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1280160"/>
            <a:ext cx="82296" cy="484632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12" name="Text 9"/>
          <p:cNvSpPr/>
          <p:nvPr/>
        </p:nvSpPr>
        <p:spPr>
          <a:xfrm>
            <a:off x="4498848" y="1408176"/>
            <a:ext cx="3447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needed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498848" y="1847088"/>
            <a:ext cx="3447288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growth, corporate partnerships, AI enablement, market expansion.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229600" y="1280160"/>
            <a:ext cx="3611880" cy="4846320"/>
          </a:xfrm>
          <a:prstGeom prst="roundRect">
            <a:avLst>
              <a:gd name="adj" fmla="val 2532"/>
            </a:avLst>
          </a:prstGeom>
          <a:solidFill>
            <a:srgbClr val="EEF7FF"/>
          </a:solidFill>
          <a:ln w="12700">
            <a:solidFill>
              <a:srgbClr val="B6DB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1280160"/>
            <a:ext cx="82296" cy="4846320"/>
          </a:xfrm>
          <a:prstGeom prst="rect">
            <a:avLst/>
          </a:prstGeom>
          <a:solidFill>
            <a:srgbClr val="1F6DE0"/>
          </a:solidFill>
          <a:ln/>
        </p:spPr>
      </p:sp>
      <p:sp>
        <p:nvSpPr>
          <p:cNvPr id="16" name="Text 13"/>
          <p:cNvSpPr/>
          <p:nvPr/>
        </p:nvSpPr>
        <p:spPr>
          <a:xfrm>
            <a:off x="8430768" y="1408176"/>
            <a:ext cx="3264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5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430768" y="1847088"/>
            <a:ext cx="3264408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500+ merchants, scale AskMacGyver, expand regionally, grow ACBPay adoption.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19" name="Image 1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542532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85216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 ·  Confidential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0241280" y="65471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DE0"/>
          </a:solidFill>
          <a:ln/>
        </p:spPr>
      </p:sp>
      <p:pic>
        <p:nvPicPr>
          <p:cNvPr id="3" name="Image 0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merchants, suppliers, and communities with inclusive digital commerce.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2651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9718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Qwertymates into Southern Africa as the leading AI-driven super-app.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40080" y="4023360"/>
            <a:ext cx="10927080" cy="1554480"/>
          </a:xfrm>
          <a:prstGeom prst="roundRect">
            <a:avLst>
              <a:gd name="adj" fmla="val 5882"/>
            </a:avLst>
          </a:prstGeom>
          <a:solidFill>
            <a:srgbClr val="1F6DE0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160520"/>
            <a:ext cx="10469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4526280"/>
            <a:ext cx="10469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us to accelerate inclusive growth.</a:t>
            </a:r>
            <a:endParaRPr lang="en-US" sz="2600" dirty="0"/>
          </a:p>
        </p:txBody>
      </p:sp>
      <p:pic>
        <p:nvPicPr>
          <p:cNvPr id="12" name="Image 1" descr="C:\Users\Dell\.cursor\projects\morongwa\frontend\public\qwertymates-q-mark-offi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550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4128" y="63733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Qwertymates  ·  Confidential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241280" y="63733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Qwertymates (Pty)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Qwertymates Pitch Deck — NquBator</dc:title>
  <dc:subject>Investor / accelerator pitch — 13 slides</dc:subject>
  <dc:creator>Ariel Madisha, Founder &amp; CEO — Qwertymates (Pty) Ltd</dc:creator>
  <cp:lastModifiedBy>Ariel Madisha, Founder &amp; CEO — Qwertymates (Pty) Ltd</cp:lastModifiedBy>
  <cp:revision>1</cp:revision>
  <dcterms:created xsi:type="dcterms:W3CDTF">2026-08-20T05:58:54Z</dcterms:created>
  <dcterms:modified xsi:type="dcterms:W3CDTF">2026-08-20T05:58:54Z</dcterms:modified>
</cp:coreProperties>
</file>